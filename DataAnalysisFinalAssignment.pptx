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24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de-D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38" userDrawn="1">
          <p15:clr>
            <a:srgbClr val="A4A3A4"/>
          </p15:clr>
        </p15:guide>
        <p15:guide id="2" orient="horz" pos="1003" userDrawn="1">
          <p15:clr>
            <a:srgbClr val="A4A3A4"/>
          </p15:clr>
        </p15:guide>
        <p15:guide id="3" pos="226" userDrawn="1">
          <p15:clr>
            <a:srgbClr val="A4A3A4"/>
          </p15:clr>
        </p15:guide>
        <p15:guide id="4" pos="5534" userDrawn="1">
          <p15:clr>
            <a:srgbClr val="A4A3A4"/>
          </p15:clr>
        </p15:guide>
        <p15:guide id="5" pos="2880">
          <p15:clr>
            <a:srgbClr val="A4A3A4"/>
          </p15:clr>
        </p15:guide>
        <p15:guide id="6" orient="horz" pos="686" userDrawn="1">
          <p15:clr>
            <a:srgbClr val="A4A3A4"/>
          </p15:clr>
        </p15:guide>
        <p15:guide id="7" orient="horz" pos="4178" userDrawn="1">
          <p15:clr>
            <a:srgbClr val="A4A3A4"/>
          </p15:clr>
        </p15:guide>
        <p15:guide id="8" orient="horz" pos="2879">
          <p15:clr>
            <a:srgbClr val="A4A3A4"/>
          </p15:clr>
        </p15:guide>
        <p15:guide id="9" orient="horz" pos="752">
          <p15:clr>
            <a:srgbClr val="A4A3A4"/>
          </p15:clr>
        </p15:guide>
        <p15:guide id="10" orient="horz" pos="515">
          <p15:clr>
            <a:srgbClr val="A4A3A4"/>
          </p15:clr>
        </p15:guide>
        <p15:guide id="11" orient="horz" pos="313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A600"/>
    <a:srgbClr val="00AFCB"/>
    <a:srgbClr val="005C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138" d="100"/>
          <a:sy n="138" d="100"/>
        </p:scale>
        <p:origin x="870" y="120"/>
      </p:cViewPr>
      <p:guideLst>
        <p:guide orient="horz" pos="3838"/>
        <p:guide orient="horz" pos="1003"/>
        <p:guide pos="226"/>
        <p:guide pos="5534"/>
        <p:guide pos="2880"/>
        <p:guide orient="horz" pos="686"/>
        <p:guide orient="horz" pos="4178"/>
        <p:guide orient="horz" pos="2879"/>
        <p:guide orient="horz" pos="752"/>
        <p:guide orient="horz" pos="515"/>
        <p:guide orient="horz" pos="313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89A364-0348-2F43-99DF-D2B200CF0081}" type="datetimeFigureOut">
              <a:rPr lang="de-DE" smtClean="0"/>
              <a:t>29.01.2026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5E9922-510D-BA4D-8EA2-480C80FDB60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65124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19BEE0-598C-4858-A439-753E34679212}" type="datetimeFigureOut">
              <a:rPr lang="de-AT" smtClean="0"/>
              <a:t>29.01.2026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FEA223-4F50-4DD6-9CC4-15E4F51256E0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1254536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816769"/>
            <a:ext cx="9144000" cy="418057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bg2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77587" y="1051413"/>
            <a:ext cx="8596539" cy="1102519"/>
          </a:xfrm>
        </p:spPr>
        <p:txBody>
          <a:bodyPr anchor="t">
            <a:normAutofit/>
          </a:bodyPr>
          <a:lstStyle>
            <a:lvl1pPr algn="l"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277587" y="3349398"/>
            <a:ext cx="8596539" cy="1314450"/>
          </a:xfrm>
        </p:spPr>
        <p:txBody>
          <a:bodyPr anchor="b"/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369616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orient="horz" pos="2160">
          <p15:clr>
            <a:srgbClr val="FBAE40"/>
          </p15:clr>
        </p15:guide>
        <p15:guide id="1" pos="226">
          <p15:clr>
            <a:srgbClr val="FBAE40"/>
          </p15:clr>
        </p15:guide>
        <p15:guide id="2" pos="5534">
          <p15:clr>
            <a:srgbClr val="FBAE40"/>
          </p15:clr>
        </p15:guide>
        <p15:guide id="3" orient="horz" pos="1003">
          <p15:clr>
            <a:srgbClr val="FBAE40"/>
          </p15:clr>
        </p15:guide>
        <p15:guide id="4" orient="horz" pos="3838">
          <p15:clr>
            <a:srgbClr val="FBAE40"/>
          </p15:clr>
        </p15:guide>
        <p15:guide id="5" orient="horz" pos="686">
          <p15:clr>
            <a:srgbClr val="FBAE40"/>
          </p15:clr>
        </p15:guide>
        <p15:guide id="6" orient="horz" pos="4178">
          <p15:clr>
            <a:srgbClr val="FBAE40"/>
          </p15:clr>
        </p15:guide>
        <p15:guide id="7" pos="170">
          <p15:clr>
            <a:srgbClr val="FBAE40"/>
          </p15:clr>
        </p15:guide>
        <p15:guide id="8" pos="559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>
            <a:lvl1pPr algn="l">
              <a:defRPr sz="3200" b="1"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24598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0" y="816769"/>
            <a:ext cx="9144000" cy="418057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69875" y="1064539"/>
            <a:ext cx="860425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69875" y="3444479"/>
            <a:ext cx="8604251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>
          <a:xfrm>
            <a:off x="26498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de-DE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de-DE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88470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u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0" y="1194197"/>
            <a:ext cx="9144000" cy="337542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58775" y="1949734"/>
            <a:ext cx="8604250" cy="1021556"/>
          </a:xfrm>
        </p:spPr>
        <p:txBody>
          <a:bodyPr anchor="b"/>
          <a:lstStyle>
            <a:lvl1pPr algn="ctr">
              <a:defRPr sz="4000" b="1" i="1" cap="none" baseline="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69876" y="3254659"/>
            <a:ext cx="8604251" cy="1125140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bg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77053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69876" y="1675136"/>
            <a:ext cx="4225925" cy="289448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75136"/>
            <a:ext cx="4225925" cy="28944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76835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r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69876" y="1675136"/>
            <a:ext cx="2808000" cy="28944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63641" y="1675136"/>
            <a:ext cx="2808000" cy="28944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1" name="Inhaltsplatzhalter 2"/>
          <p:cNvSpPr>
            <a:spLocks noGrp="1"/>
          </p:cNvSpPr>
          <p:nvPr>
            <p:ph sz="half" idx="13"/>
          </p:nvPr>
        </p:nvSpPr>
        <p:spPr>
          <a:xfrm>
            <a:off x="3166759" y="1675136"/>
            <a:ext cx="2808000" cy="28944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70532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ins plus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69876" y="1675136"/>
            <a:ext cx="4225925" cy="28944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75136"/>
            <a:ext cx="4225925" cy="140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Inhaltsplatzhalter 3"/>
          <p:cNvSpPr>
            <a:spLocks noGrp="1"/>
          </p:cNvSpPr>
          <p:nvPr>
            <p:ph sz="half" idx="14"/>
          </p:nvPr>
        </p:nvSpPr>
        <p:spPr>
          <a:xfrm>
            <a:off x="4648201" y="3165619"/>
            <a:ext cx="4225925" cy="140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88367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Vier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69876" y="1675136"/>
            <a:ext cx="4225925" cy="140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75136"/>
            <a:ext cx="4225925" cy="140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1" name="Inhaltsplatzhalter 2"/>
          <p:cNvSpPr>
            <a:spLocks noGrp="1"/>
          </p:cNvSpPr>
          <p:nvPr>
            <p:ph sz="half" idx="13"/>
          </p:nvPr>
        </p:nvSpPr>
        <p:spPr>
          <a:xfrm>
            <a:off x="264981" y="3165619"/>
            <a:ext cx="4225925" cy="140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2" name="Inhaltsplatzhalter 3"/>
          <p:cNvSpPr>
            <a:spLocks noGrp="1"/>
          </p:cNvSpPr>
          <p:nvPr>
            <p:ph sz="half" idx="14"/>
          </p:nvPr>
        </p:nvSpPr>
        <p:spPr>
          <a:xfrm>
            <a:off x="4648201" y="3165619"/>
            <a:ext cx="4225925" cy="140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39163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ymmetrisch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1999" y="1616700"/>
            <a:ext cx="4300156" cy="2952919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Titel 11"/>
          <p:cNvSpPr>
            <a:spLocks noGrp="1"/>
          </p:cNvSpPr>
          <p:nvPr>
            <p:ph type="title"/>
          </p:nvPr>
        </p:nvSpPr>
        <p:spPr>
          <a:xfrm>
            <a:off x="4572000" y="1204233"/>
            <a:ext cx="4300155" cy="412467"/>
          </a:xfrm>
        </p:spPr>
        <p:txBody>
          <a:bodyPr anchor="b">
            <a:no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de-AT" dirty="0"/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13"/>
          </p:nvPr>
        </p:nvSpPr>
        <p:spPr>
          <a:xfrm>
            <a:off x="358776" y="1194197"/>
            <a:ext cx="2765425" cy="337542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27403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ymmetrisch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271845" y="1616700"/>
            <a:ext cx="4300156" cy="2952919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Titel 11"/>
          <p:cNvSpPr>
            <a:spLocks noGrp="1"/>
          </p:cNvSpPr>
          <p:nvPr>
            <p:ph type="title"/>
          </p:nvPr>
        </p:nvSpPr>
        <p:spPr>
          <a:xfrm>
            <a:off x="271846" y="1194197"/>
            <a:ext cx="4300155" cy="412467"/>
          </a:xfrm>
        </p:spPr>
        <p:txBody>
          <a:bodyPr anchor="b">
            <a:no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de-AT" dirty="0"/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13"/>
          </p:nvPr>
        </p:nvSpPr>
        <p:spPr>
          <a:xfrm>
            <a:off x="6019801" y="1194197"/>
            <a:ext cx="2765425" cy="337542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695608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69875" y="816769"/>
            <a:ext cx="860228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69876" y="1751750"/>
            <a:ext cx="4227513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269876" y="2231572"/>
            <a:ext cx="4227513" cy="233804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751750"/>
            <a:ext cx="4227130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231572"/>
            <a:ext cx="4229100" cy="233804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2" name="Foliennummernplatzhalt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631604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033246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64981" y="816769"/>
            <a:ext cx="3200533" cy="901814"/>
          </a:xfrm>
        </p:spPr>
        <p:txBody>
          <a:bodyPr anchor="t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816769"/>
            <a:ext cx="5297105" cy="3752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269876" y="1719943"/>
            <a:ext cx="3195638" cy="284967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707223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69876" y="4144565"/>
            <a:ext cx="4302125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358775" y="816769"/>
            <a:ext cx="8426450" cy="332779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1999" y="4144565"/>
            <a:ext cx="4302125" cy="425054"/>
          </a:xfrm>
        </p:spPr>
        <p:txBody>
          <a:bodyPr anchor="b"/>
          <a:lstStyle>
            <a:lvl1pPr marL="0" indent="0" algn="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244675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oll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0" y="1194197"/>
            <a:ext cx="9144000" cy="394930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92027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761538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816769"/>
            <a:ext cx="2244725" cy="37528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269876" y="816769"/>
            <a:ext cx="6207125" cy="37528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74091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 3" descr="Header_Tuerkis.jpg"/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238"/>
            <a:ext cx="9144000" cy="654460"/>
          </a:xfrm>
          <a:prstGeom prst="rect">
            <a:avLst/>
          </a:prstGeom>
        </p:spPr>
      </p:pic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269875" y="817886"/>
            <a:ext cx="8602280" cy="8572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de-AT" dirty="0"/>
              <a:t>Mastertitelformat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69875" y="1758043"/>
            <a:ext cx="8604250" cy="2811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AT" dirty="0"/>
              <a:t>Mastertextformat bearbeiten</a:t>
            </a:r>
          </a:p>
          <a:p>
            <a:pPr lvl="1"/>
            <a:r>
              <a:rPr lang="de-AT" dirty="0"/>
              <a:t>Zweite Ebene</a:t>
            </a:r>
          </a:p>
          <a:p>
            <a:pPr lvl="2"/>
            <a:r>
              <a:rPr lang="de-AT" dirty="0"/>
              <a:t>Dritte Ebene</a:t>
            </a:r>
          </a:p>
          <a:p>
            <a:pPr lvl="3"/>
            <a:r>
              <a:rPr lang="de-AT" dirty="0"/>
              <a:t>Vierte Ebene</a:t>
            </a:r>
          </a:p>
          <a:p>
            <a:pPr lvl="4"/>
            <a:r>
              <a:rPr lang="de-AT" dirty="0"/>
              <a:t>Fünfte Ebene</a:t>
            </a:r>
            <a:endParaRPr lang="de-DE" dirty="0"/>
          </a:p>
        </p:txBody>
      </p:sp>
      <p:sp>
        <p:nvSpPr>
          <p:cNvPr id="10" name="Textfeld 9"/>
          <p:cNvSpPr txBox="1"/>
          <p:nvPr/>
        </p:nvSpPr>
        <p:spPr>
          <a:xfrm>
            <a:off x="393894" y="217299"/>
            <a:ext cx="63446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400" cap="all" dirty="0" err="1">
                <a:solidFill>
                  <a:schemeClr val="accent1"/>
                </a:solidFill>
                <a:latin typeface="+mn-lt"/>
                <a:cs typeface="Estrangelo Edessa" pitchFamily="66" charset="0"/>
              </a:rPr>
              <a:t>EleKtronik</a:t>
            </a:r>
            <a:r>
              <a:rPr lang="de-AT" sz="1400" cap="all" dirty="0">
                <a:solidFill>
                  <a:schemeClr val="accent1"/>
                </a:solidFill>
                <a:latin typeface="+mn-lt"/>
                <a:cs typeface="Estrangelo Edessa" pitchFamily="66" charset="0"/>
              </a:rPr>
              <a:t> und Computer Engineering</a:t>
            </a:r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738555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8C68F6-CEB4-C040-B3A3-CADDD499EB7C}" type="slidenum">
              <a:rPr lang="de-DE" smtClean="0"/>
              <a:pPr/>
              <a:t>‹#›</a:t>
            </a:fld>
            <a:endParaRPr lang="de-DE" dirty="0"/>
          </a:p>
        </p:txBody>
      </p:sp>
      <p:cxnSp>
        <p:nvCxnSpPr>
          <p:cNvPr id="14" name="Gerade Verbindung 13"/>
          <p:cNvCxnSpPr/>
          <p:nvPr/>
        </p:nvCxnSpPr>
        <p:spPr>
          <a:xfrm>
            <a:off x="355601" y="4733925"/>
            <a:ext cx="8423275" cy="0"/>
          </a:xfrm>
          <a:prstGeom prst="line">
            <a:avLst/>
          </a:prstGeom>
          <a:ln w="6350" cmpd="sng">
            <a:solidFill>
              <a:schemeClr val="bg1">
                <a:lumMod val="75000"/>
              </a:schemeClr>
            </a:solidFill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Gerade Verbindung 13"/>
          <p:cNvCxnSpPr>
            <a:cxnSpLocks/>
          </p:cNvCxnSpPr>
          <p:nvPr/>
        </p:nvCxnSpPr>
        <p:spPr>
          <a:xfrm>
            <a:off x="269874" y="4733925"/>
            <a:ext cx="8604000" cy="0"/>
          </a:xfrm>
          <a:prstGeom prst="line">
            <a:avLst/>
          </a:prstGeom>
          <a:ln w="6350" cmpd="sng">
            <a:solidFill>
              <a:schemeClr val="bg1">
                <a:lumMod val="75000"/>
              </a:schemeClr>
            </a:solidFill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3348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8" r:id="rId13"/>
    <p:sldLayoutId id="2147483739" r:id="rId14"/>
    <p:sldLayoutId id="2147483740" r:id="rId15"/>
    <p:sldLayoutId id="2147483741" r:id="rId16"/>
    <p:sldLayoutId id="2147483742" r:id="rId17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2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ts val="600"/>
        </a:spcBef>
        <a:spcAft>
          <a:spcPts val="0"/>
        </a:spcAft>
        <a:buClr>
          <a:schemeClr val="accent1"/>
        </a:buClr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ts val="0"/>
        </a:spcBef>
        <a:buClr>
          <a:schemeClr val="accent1"/>
        </a:buClr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ts val="0"/>
        </a:spcBef>
        <a:buClr>
          <a:schemeClr val="accent1"/>
        </a:buClr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ts val="0"/>
        </a:spcBef>
        <a:buClr>
          <a:schemeClr val="accent1"/>
        </a:buClr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36000" indent="0" algn="l" defTabSz="457200" rtl="0" eaLnBrk="1" latinLnBrk="0" hangingPunct="1">
        <a:spcBef>
          <a:spcPts val="0"/>
        </a:spcBef>
        <a:buClr>
          <a:schemeClr val="accent1"/>
        </a:buClr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1003">
          <p15:clr>
            <a:srgbClr val="F26B43"/>
          </p15:clr>
        </p15:guide>
        <p15:guide id="1" pos="2880">
          <p15:clr>
            <a:srgbClr val="F26B43"/>
          </p15:clr>
        </p15:guide>
        <p15:guide id="2" pos="226">
          <p15:clr>
            <a:srgbClr val="F26B43"/>
          </p15:clr>
        </p15:guide>
        <p15:guide id="3" pos="170">
          <p15:clr>
            <a:srgbClr val="F26B43"/>
          </p15:clr>
        </p15:guide>
        <p15:guide id="4" pos="5534">
          <p15:clr>
            <a:srgbClr val="F26B43"/>
          </p15:clr>
        </p15:guide>
        <p15:guide id="5" pos="5590">
          <p15:clr>
            <a:srgbClr val="F26B43"/>
          </p15:clr>
        </p15:guide>
        <p15:guide id="6" orient="horz" pos="3838">
          <p15:clr>
            <a:srgbClr val="F26B43"/>
          </p15:clr>
        </p15:guide>
        <p15:guide id="7" orient="horz" pos="686">
          <p15:clr>
            <a:srgbClr val="F26B43"/>
          </p15:clr>
        </p15:guide>
        <p15:guide id="8" orient="horz" pos="417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 dirty="0"/>
              <a:t>Data Analysis Final Assignment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AT" dirty="0"/>
              <a:t>Andreas Heindl</a:t>
            </a:r>
          </a:p>
          <a:p>
            <a:r>
              <a:rPr lang="de-AT" dirty="0"/>
              <a:t>I Love Data Analysis</a:t>
            </a:r>
          </a:p>
        </p:txBody>
      </p:sp>
    </p:spTree>
    <p:extLst>
      <p:ext uri="{BB962C8B-B14F-4D97-AF65-F5344CB8AC3E}">
        <p14:creationId xmlns:p14="http://schemas.microsoft.com/office/powerpoint/2010/main" val="3537182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2D39B-A86E-8E76-7448-91AA8414C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Data</a:t>
            </a:r>
            <a:br>
              <a:rPr lang="en-US" dirty="0"/>
            </a:br>
            <a:r>
              <a:rPr lang="en-US" dirty="0"/>
              <a:t>Solar Power Plant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64587-AD5C-B6A5-78AF-F52CAA7B3F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Dataset from Kaggle</a:t>
            </a:r>
          </a:p>
          <a:p>
            <a:r>
              <a:rPr lang="en-US" dirty="0"/>
              <a:t>15-min time series over 2 months</a:t>
            </a:r>
          </a:p>
          <a:p>
            <a:r>
              <a:rPr lang="en-US" dirty="0"/>
              <a:t>~70k datapoints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A7040E-2E60-2BBC-B196-D9916BDAF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75206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B52D4-0C93-8CAF-9CBD-FBEDA7A54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cleaning&amp; Preprocessing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E16BD-4EC6-7558-9194-D991BDA08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DC Power fix</a:t>
            </a:r>
          </a:p>
          <a:p>
            <a:r>
              <a:rPr lang="en-US" dirty="0"/>
              <a:t>Handling missing and outliers</a:t>
            </a:r>
          </a:p>
          <a:p>
            <a:r>
              <a:rPr lang="en-US" dirty="0"/>
              <a:t>2 different files merged:</a:t>
            </a:r>
          </a:p>
          <a:p>
            <a:r>
              <a:rPr lang="en-US" dirty="0"/>
              <a:t>	Weather and Generation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CF3F1F-3BED-3B39-52B9-C25023128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3</a:t>
            </a:fld>
            <a:endParaRPr lang="de-D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0A6830-EC95-49A0-3244-98C93A4471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170" y="1106651"/>
            <a:ext cx="3326955" cy="18908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227DB2E-6BC9-E36C-B71D-0CF960C3C9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7169" y="2997510"/>
            <a:ext cx="3326955" cy="1567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851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E30F2-346C-6FBF-D844-055CC9F76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and Night cycle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89EA50-397F-9408-9514-66DBEE1B6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4</a:t>
            </a:fld>
            <a:endParaRPr lang="de-DE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F733AE43-0205-53CC-BC88-5980B755CC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2201" y="1675136"/>
            <a:ext cx="5477628" cy="3115426"/>
          </a:xfrm>
        </p:spPr>
      </p:pic>
    </p:spTree>
    <p:extLst>
      <p:ext uri="{BB962C8B-B14F-4D97-AF65-F5344CB8AC3E}">
        <p14:creationId xmlns:p14="http://schemas.microsoft.com/office/powerpoint/2010/main" val="427088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A5B30-E82E-1B81-97E3-2BFFE6B1D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Analysis</a:t>
            </a:r>
            <a:endParaRPr lang="en-DE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BEF54D9-65F9-D300-89C1-935E84C3A5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9367" y="1757363"/>
            <a:ext cx="6865266" cy="281305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ECAE05-2857-9E2C-6507-F24CF8F92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31279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DE69F-4822-9103-A82D-30DFB0AA3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 Tab</a:t>
            </a:r>
            <a:endParaRPr lang="en-DE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B123A23-6906-6C40-C267-C6CE8315EC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76390" y="993373"/>
            <a:ext cx="5752409" cy="368504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77B690-A8B2-F7EF-F80D-C5F738797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96444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48E08-ED1A-0E9A-4C26-6FF1E994B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Probability</a:t>
            </a:r>
            <a:endParaRPr lang="en-DE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A541C5A-BF68-F66F-DFB5-B99A0A155A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9875" y="2033276"/>
            <a:ext cx="8604250" cy="2261224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0C588-3FFB-DF52-7B3D-BAFB70DAC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6048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057DA-ACA3-8BAF-3BA2-62BB43C55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Law of Large Numbers</a:t>
            </a:r>
            <a:endParaRPr lang="en-DE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84EF05C-B4BA-6171-5E16-8CE8668517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0098" y="1757363"/>
            <a:ext cx="5701834" cy="313832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7FDEBB-ADD7-2832-D74D-DF418F3A6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63941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EE671-CCB9-0207-3461-3BF01FC65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75" y="817886"/>
            <a:ext cx="8602280" cy="857250"/>
          </a:xfrm>
        </p:spPr>
        <p:txBody>
          <a:bodyPr anchor="b">
            <a:normAutofit/>
          </a:bodyPr>
          <a:lstStyle/>
          <a:p>
            <a:r>
              <a:rPr lang="en-US" dirty="0"/>
              <a:t>Central Limit Theorem</a:t>
            </a:r>
            <a:endParaRPr lang="en-DE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DBEBA44-7ECC-D3C8-1734-1171D4ACC8C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r="2" b="8064"/>
          <a:stretch>
            <a:fillRect/>
          </a:stretch>
        </p:blipFill>
        <p:spPr>
          <a:xfrm>
            <a:off x="4648202" y="1675136"/>
            <a:ext cx="4225925" cy="2894483"/>
          </a:xfr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4907B4C-51C9-60DF-6E27-765B0F6F5A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" b="8064"/>
          <a:stretch>
            <a:fillRect/>
          </a:stretch>
        </p:blipFill>
        <p:spPr>
          <a:xfrm>
            <a:off x="269875" y="1675136"/>
            <a:ext cx="4225925" cy="2894483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964CE8-4E26-35FA-5790-1F1F06A6E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38555" y="4767263"/>
            <a:ext cx="2133600" cy="27384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8C68F6-CEB4-C040-B3A3-CADDD499EB7C}" type="slidenum">
              <a:rPr lang="de-DE" smtClean="0"/>
              <a:pPr>
                <a:spcAft>
                  <a:spcPts val="600"/>
                </a:spcAft>
              </a:pPr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9418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89F69-F0EA-B107-5A18-4AC76BF27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and Predictive Modeling</a:t>
            </a:r>
            <a:endParaRPr lang="en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3FBED9-A186-8503-4B24-9F3F19D5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10</a:t>
            </a:fld>
            <a:endParaRPr lang="de-DE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956A42-1974-F01A-E923-06359F40B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072" y="1860021"/>
            <a:ext cx="8395855" cy="2753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804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CE387-0A50-A553-3DA1-3B592C7E9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PCA, t-SNE, UMAP</a:t>
            </a:r>
            <a:endParaRPr lang="en-DE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94BD84D-1059-6408-1185-2B775E71AB9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7615" y="2021461"/>
            <a:ext cx="2646418" cy="2070805"/>
          </a:xfr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DCF18A9-CB43-4042-6FE6-3AF28E646DA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45184" y="2021462"/>
            <a:ext cx="2646418" cy="2070805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F73D8F-060B-2828-DF08-08FBCC830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11</a:t>
            </a:fld>
            <a:endParaRPr lang="de-DE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01C778-6879-3EBD-2353-972EDA1462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6399" y="2021462"/>
            <a:ext cx="2646419" cy="2068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667477"/>
      </p:ext>
    </p:extLst>
  </p:cSld>
  <p:clrMapOvr>
    <a:masterClrMapping/>
  </p:clrMapOvr>
</p:sld>
</file>

<file path=ppt/theme/theme1.xml><?xml version="1.0" encoding="utf-8"?>
<a:theme xmlns:a="http://schemas.openxmlformats.org/drawingml/2006/main" name="PPT_Vorlage_Engineering_türkis">
  <a:themeElements>
    <a:clrScheme name="FH türk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0B0CA"/>
      </a:accent1>
      <a:accent2>
        <a:srgbClr val="056781"/>
      </a:accent2>
      <a:accent3>
        <a:srgbClr val="22FFFE"/>
      </a:accent3>
      <a:accent4>
        <a:srgbClr val="BBBBBB"/>
      </a:accent4>
      <a:accent5>
        <a:srgbClr val="888888"/>
      </a:accent5>
      <a:accent6>
        <a:srgbClr val="444444"/>
      </a:accent6>
      <a:hlink>
        <a:srgbClr val="0000FF"/>
      </a:hlink>
      <a:folHlink>
        <a:srgbClr val="800080"/>
      </a:folHlink>
    </a:clrScheme>
    <a:fontScheme name="FH Joanneum">
      <a:majorFont>
        <a:latin typeface="Georgia"/>
        <a:ea typeface=""/>
        <a:cs typeface=""/>
      </a:majorFont>
      <a:minorFont>
        <a:latin typeface="Calibri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CE 16.9.potx" id="{4BD5A669-AD90-4F44-AE52-AAFD8A160261}" vid="{0CDBE95F-7691-409F-AC69-099C0587BE0B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ECE 16.9</Template>
  <TotalTime>23</TotalTime>
  <Words>84</Words>
  <Application>Microsoft Office PowerPoint</Application>
  <PresentationFormat>On-screen Show (16:9)</PresentationFormat>
  <Paragraphs>30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PPT_Vorlage_Engineering_türkis</vt:lpstr>
      <vt:lpstr>Data Analysis Final Assignment</vt:lpstr>
      <vt:lpstr>The Data Solar Power Plant</vt:lpstr>
      <vt:lpstr>Data cleaning&amp; Preprocessing</vt:lpstr>
      <vt:lpstr>Day and Night cycle</vt:lpstr>
      <vt:lpstr>Correlation Analysis</vt:lpstr>
      <vt:lpstr>Cross Tab</vt:lpstr>
      <vt:lpstr>Conditional Probability</vt:lpstr>
      <vt:lpstr>Law of Large Numbers</vt:lpstr>
      <vt:lpstr>Central Limit Theorem</vt:lpstr>
      <vt:lpstr>Regression and Predictive Modeling</vt:lpstr>
      <vt:lpstr>PCA, t-SNE, UMAP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Heindl Andreas</dc:creator>
  <cp:lastModifiedBy>Heindl Andreas</cp:lastModifiedBy>
  <cp:revision>13</cp:revision>
  <dcterms:created xsi:type="dcterms:W3CDTF">2026-01-29T20:42:21Z</dcterms:created>
  <dcterms:modified xsi:type="dcterms:W3CDTF">2026-01-29T21:05:53Z</dcterms:modified>
</cp:coreProperties>
</file>